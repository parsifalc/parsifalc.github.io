
<file path=[Content_Types].xml><?xml version="1.0" encoding="utf-8"?>
<ns0:Types xmlns:ns0="http://schemas.openxmlformats.org/package/2006/content-types">
  <ns0:Default ContentType="image/jpeg" Extension="jpeg"/>
  <ns0:Default ContentType="image/png" Extension="png"/>
  <ns0:Default ContentType="application/vnd.openxmlformats-package.relationships+xml" Extension="rels"/>
  <ns0:Default ContentType="application/xml" Extension="xml"/>
  <ns0:Override ContentType="application/vnd.openxmlformats-officedocument.extended-properties+xml" PartName="/docProps/app.xml"/>
  <ns0:Override ContentType="application/vnd.openxmlformats-package.core-properties+xml" PartName="/docProps/core.xml"/>
  <ns0:Override ContentType="application/vnd.openxmlformats-officedocument.presentationml.presentation.main+xml" PartName="/ppt/presentation.xml"/>
  <ns0:Override ContentType="application/vnd.openxmlformats-officedocument.presentationml.presProps+xml" PartName="/ppt/presProps.xml"/>
  <ns0:Override ContentType="application/vnd.openxmlformats-officedocument.presentationml.slideLayout+xml" PartName="/ppt/slideLayouts/slideLayout1.xml"/>
  <ns0:Override ContentType="application/vnd.openxmlformats-officedocument.presentationml.slideLayout+xml" PartName="/ppt/slideLayouts/slideLayout2.xml"/>
  <ns0:Override ContentType="application/vnd.openxmlformats-officedocument.presentationml.slideLayout+xml" PartName="/ppt/slideLayouts/slideLayout3.xml"/>
  <ns0:Override ContentType="application/vnd.openxmlformats-officedocument.presentationml.slideLayout+xml" PartName="/ppt/slideLayouts/slideLayout4.xml"/>
  <ns0:Override ContentType="application/vnd.openxmlformats-officedocument.presentationml.slideLayout+xml" PartName="/ppt/slideLayouts/slideLayout5.xml"/>
  <ns0:Override ContentType="application/vnd.openxmlformats-officedocument.presentationml.slideLayout+xml" PartName="/ppt/slideLayouts/slideLayout6.xml"/>
  <ns0:Override ContentType="application/vnd.openxmlformats-officedocument.presentationml.slideLayout+xml" PartName="/ppt/slideLayouts/slideLayout7.xml"/>
  <ns0:Override ContentType="application/vnd.openxmlformats-officedocument.presentationml.slideLayout+xml" PartName="/ppt/slideLayouts/slideLayout8.xml"/>
  <ns0:Override ContentType="application/vnd.openxmlformats-officedocument.presentationml.slideLayout+xml" PartName="/ppt/slideLayouts/slideLayout9.xml"/>
  <ns0:Override ContentType="application/vnd.openxmlformats-officedocument.presentationml.slideLayout+xml" PartName="/ppt/slideLayouts/slideLayout10.xml"/>
  <ns0:Override ContentType="application/vnd.openxmlformats-officedocument.presentationml.slideLayout+xml" PartName="/ppt/slideLayouts/slideLayout11.xml"/>
  <ns0:Override ContentType="application/vnd.openxmlformats-officedocument.presentationml.slideMaster+xml" PartName="/ppt/slideMasters/slideMaster1.xml"/>
  <ns0:Override ContentType="application/vnd.openxmlformats-officedocument.presentationml.slide+xml" PartName="/ppt/slides/slide1.xml"/>
  <ns0:Override ContentType="application/vnd.openxmlformats-officedocument.presentationml.slide+xml" PartName="/ppt/slides/slide2.xml"/>
  <ns0:Override ContentType="application/vnd.openxmlformats-officedocument.presentationml.slide+xml" PartName="/ppt/slides/slide3.xml"/>
  <ns0:Override ContentType="application/vnd.openxmlformats-officedocument.presentationml.slide+xml" PartName="/ppt/slides/slide4.xml"/>
  <ns0:Override ContentType="application/vnd.openxmlformats-officedocument.presentationml.slide+xml" PartName="/ppt/slides/slide5.xml"/>
  <ns0:Override ContentType="application/vnd.openxmlformats-officedocument.presentationml.slide+xml" PartName="/ppt/slides/slide6.xml"/>
  <ns0:Override ContentType="application/vnd.openxmlformats-officedocument.presentationml.slide+xml" PartName="/ppt/slides/slide7.xml"/>
  <ns0:Override ContentType="application/vnd.openxmlformats-officedocument.presentationml.slide+xml" PartName="/ppt/slides/slide8.xml"/>
  <ns0:Override ContentType="application/vnd.openxmlformats-officedocument.presentationml.slide+xml" PartName="/ppt/slides/slide9.xml"/>
  <ns0:Override ContentType="application/vnd.openxmlformats-officedocument.presentationml.slide+xml" PartName="/ppt/slides/slide10.xml"/>
  <ns0:Override ContentType="application/vnd.openxmlformats-officedocument.presentationml.slide+xml" PartName="/ppt/slides/slide11.xml"/>
  <ns0:Override ContentType="application/vnd.openxmlformats-officedocument.presentationml.slide+xml" PartName="/ppt/slides/slide12.xml"/>
  <ns0:Override ContentType="application/vnd.openxmlformats-officedocument.presentationml.slide+xml" PartName="/ppt/slides/slide13.xml"/>
  <ns0:Override ContentType="application/vnd.openxmlformats-officedocument.presentationml.slide+xml" PartName="/ppt/slides/slide14.xml"/>
  <ns0:Override ContentType="application/vnd.openxmlformats-officedocument.presentationml.slide+xml" PartName="/ppt/slides/slide15.xml"/>
  <ns0:Override ContentType="application/vnd.openxmlformats-officedocument.presentationml.tableStyles+xml" PartName="/ppt/tableStyles.xml"/>
  <ns0:Override ContentType="application/vnd.openxmlformats-officedocument.theme+xml" PartName="/ppt/theme/theme1.xml"/>
  <ns0:Override ContentType="application/vnd.openxmlformats-officedocument.presentationml.viewProps+xml" PartName="/ppt/viewProps.xml"/>
  <ns0:Override ContentType="application/vnd.openxmlformats-officedocument.presentationml.notesMaster+xml" PartName="/ppt/notesMasters/notesMaster1.xml"/>
  <ns0:Override ContentType="application/vnd.openxmlformats-officedocument.presentationml.notesSlide+xml" PartName="/ppt/notesSlides/notesSlide1.xml"/>
  <ns0:Override ContentType="application/vnd.openxmlformats-officedocument.presentationml.notesSlide+xml" PartName="/ppt/notesSlides/notesSlide2.xml"/>
  <ns0:Override ContentType="application/vnd.openxmlformats-officedocument.presentationml.notesSlide+xml" PartName="/ppt/notesSlides/notesSlide3.xml"/>
  <ns0:Override ContentType="application/vnd.openxmlformats-officedocument.presentationml.notesSlide+xml" PartName="/ppt/notesSlides/notesSlide4.xml"/>
  <ns0:Override ContentType="application/vnd.openxmlformats-officedocument.presentationml.notesSlide+xml" PartName="/ppt/notesSlides/notesSlide5.xml"/>
  <ns0:Override ContentType="application/vnd.openxmlformats-officedocument.presentationml.notesSlide+xml" PartName="/ppt/notesSlides/notesSlide6.xml"/>
  <ns0:Override ContentType="application/vnd.openxmlformats-officedocument.presentationml.notesSlide+xml" PartName="/ppt/notesSlides/notesSlide7.xml"/>
  <ns0:Override ContentType="application/vnd.openxmlformats-officedocument.presentationml.notesSlide+xml" PartName="/ppt/notesSlides/notesSlide8.xml"/>
  <ns0:Override ContentType="application/vnd.openxmlformats-officedocument.presentationml.notesSlide+xml" PartName="/ppt/notesSlides/notesSlide9.xml"/>
  <ns0:Override ContentType="application/vnd.openxmlformats-officedocument.presentationml.notesSlide+xml" PartName="/ppt/notesSlides/notesSlide10.xml"/>
  <ns0:Override ContentType="application/vnd.openxmlformats-officedocument.presentationml.notesSlide+xml" PartName="/ppt/notesSlides/notesSlide11.xml"/>
  <ns0:Override ContentType="application/vnd.openxmlformats-officedocument.presentationml.notesSlide+xml" PartName="/ppt/notesSlides/notesSlide12.xml"/>
  <ns0:Override ContentType="application/vnd.openxmlformats-officedocument.presentationml.notesSlide+xml" PartName="/ppt/notesSlides/notesSlide13.xml"/>
  <ns0:Override ContentType="application/vnd.openxmlformats-officedocument.presentationml.notesSlide+xml" PartName="/ppt/notesSlides/notesSlide14.xml"/>
  <ns0:Override ContentType="application/vnd.openxmlformats-officedocument.presentationml.notesSlide+xml" PartName="/ppt/notesSlides/notesSlide15.xml"/>
</ns0: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arget="slideMasters/slideMaster1.xml" Type="http://schemas.openxmlformats.org/officeDocument/2006/relationships/slideMaster" /><ns0:Relationship Id="rId10" Target="slides/slide5.xml" Type="http://schemas.openxmlformats.org/officeDocument/2006/relationships/slide" /><ns0:Relationship Id="rId11" Target="slides/slide6.xml" Type="http://schemas.openxmlformats.org/officeDocument/2006/relationships/slide" /><ns0:Relationship Id="rId12" Target="slides/slide7.xml" Type="http://schemas.openxmlformats.org/officeDocument/2006/relationships/slide" /><ns0:Relationship Id="rId13" Target="slides/slide8.xml" Type="http://schemas.openxmlformats.org/officeDocument/2006/relationships/slide" /><ns0:Relationship Id="rId14" Target="slides/slide9.xml" Type="http://schemas.openxmlformats.org/officeDocument/2006/relationships/slide" /><ns0:Relationship Id="rId15" Target="slides/slide10.xml" Type="http://schemas.openxmlformats.org/officeDocument/2006/relationships/slide" /><ns0:Relationship Id="rId16" Target="slides/slide11.xml" Type="http://schemas.openxmlformats.org/officeDocument/2006/relationships/slide" /><ns0:Relationship Id="rId17" Target="slides/slide12.xml" Type="http://schemas.openxmlformats.org/officeDocument/2006/relationships/slide" /><ns0:Relationship Id="rId18" Target="slides/slide13.xml" Type="http://schemas.openxmlformats.org/officeDocument/2006/relationships/slide" /><ns0:Relationship Id="rId19" Target="slides/slide14.xml" Type="http://schemas.openxmlformats.org/officeDocument/2006/relationships/slide" /><ns0:Relationship Id="rId2" Target="presProps.xml" Type="http://schemas.openxmlformats.org/officeDocument/2006/relationships/presProps" /><ns0:Relationship Id="rId20" Target="slides/slide15.xml" Type="http://schemas.openxmlformats.org/officeDocument/2006/relationships/slide" /><ns0:Relationship Id="rId3" Target="viewProps.xml" Type="http://schemas.openxmlformats.org/officeDocument/2006/relationships/viewProps" /><ns0:Relationship Id="rId4" Target="theme/theme1.xml" Type="http://schemas.openxmlformats.org/officeDocument/2006/relationships/theme" /><ns0:Relationship Id="rId5" Target="tableStyles.xml" Type="http://schemas.openxmlformats.org/officeDocument/2006/relationships/tableStyles" /><ns0:Relationship Id="rId6" Target="slides/slide1.xml" Type="http://schemas.openxmlformats.org/officeDocument/2006/relationships/slide" /><ns0:Relationship Id="rId7" Target="slides/slide2.xml" Type="http://schemas.openxmlformats.org/officeDocument/2006/relationships/slide" /><ns0:Relationship Id="rId8" Target="slides/slide3.xml" Type="http://schemas.openxmlformats.org/officeDocument/2006/relationships/slide" /><ns0:Relationship Id="rId9" Target="slides/slide4.xml" Type="http://schemas.openxmlformats.org/officeDocument/2006/relationships/slide" /><ns0:Relationship Id="rId21" Target="notesMasters/notesMaster1.xml" Type="http://schemas.openxmlformats.org/officeDocument/2006/relationships/notesMaster" /></ns0: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API 是 AI 能力最真实的镜子</a:t>
            </a:r>
            <a:endParaRPr lang="zh-CN" dirty="0"/>
          </a:p>
          <a:p>
            <a:endParaRPr lang="zh-CN" dirty="0"/>
          </a:p>
          <a:p>
            <a:r>
              <a:rPr lang="zh-CN" dirty="0"/>
              <a:t>过去五年，大模型真正发生变化的，不只是参数规模和打榜跑分，更重要的是它在软件系统中的角色发生了根本性转变：它从一个单纯的文本生成函数 Text Generator，逐步演化为一个能够理解上下文、调用外部工具、执行复杂任务的运行时 Runtime。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而 API，正是这一演化过程最真实、最直观的镜子。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这次分享想从开发者视角出发，不讲模型架构史，而是看 API 的演进。因为 API 暴露出来的对象、字段和控制流，往往最直接地反映了模型能力边界在怎么变化。</a:t>
            </a:r>
            <a:endParaRPr 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8F9827-B744-4A2E-A21A-0219DB9CCCFA}" type="slidenum">
              <a:rPr lang="zh-CN"/>
              <a:t>1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为什么 API 变得越来越重？</a:t>
            </a:r>
            <a:endParaRPr lang="zh-CN" dirty="0"/>
          </a:p>
          <a:p>
            <a:endParaRPr lang="zh-CN" dirty="0"/>
          </a:p>
          <a:p>
            <a:r>
              <a:rPr lang="zh-CN" dirty="0"/>
              <a:t>如果把过去五年的 AI API 摆在一起看，会发现一个很有意思的现象。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2020 年的 GPT-3 API，结构极其简单，大概只有零星几个参数：</a:t>
            </a:r>
            <a:endParaRPr lang="zh-CN" dirty="0"/>
          </a:p>
          <a:p>
            <a:r>
              <a:rPr lang="zh-CN" dirty="0"/>
              <a:t>{</a:t>
            </a:r>
            <a:endParaRPr lang="zh-CN" dirty="0"/>
          </a:p>
          <a:p>
            <a:r>
              <a:rPr lang="zh-CN" dirty="0"/>
              <a:t>  "prompt": "...",</a:t>
            </a:r>
            <a:endParaRPr lang="zh-CN" dirty="0"/>
          </a:p>
          <a:p>
            <a:r>
              <a:rPr lang="zh-CN" dirty="0"/>
              <a:t>  "temperature": 0.7</a:t>
            </a:r>
            <a:endParaRPr lang="zh-CN" dirty="0"/>
          </a:p>
          <a:p>
            <a:r>
              <a:rPr lang="zh-CN" dirty="0"/>
              <a:t>}</a:t>
            </a:r>
            <a:endParaRPr lang="zh-CN" dirty="0"/>
          </a:p>
          <a:p>
            <a:endParaRPr lang="zh-CN" dirty="0"/>
          </a:p>
          <a:p>
            <a:r>
              <a:rPr lang="zh-CN" dirty="0"/>
              <a:t>而今天，无论是 OpenAI 的 Responses API、Claude 的 Messages API，还是 Gemini API，一个完整的请求 Payload 里面已经塞满了各种对象：messages, tools, reasoning, modalities, response_format, computer, search, memory...</a:t>
            </a:r>
            <a:endParaRPr lang="zh-CN" dirty="0"/>
          </a:p>
          <a:p>
            <a:endParaRPr lang="zh-CN" dirty="0"/>
          </a:p>
          <a:p>
            <a:r>
              <a:rPr lang="zh-CN" dirty="0"/>
              <a:t>API 似乎变得越来越臃肿复杂了。很多开发者可能会抱怨：API 的设计越来越重了。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但如果换一个软件工程的视角来看，这种复杂其实有迹可循：重要的 API 变化，往往对应着模型能力边界的扩展，或者能力工程化方式的演进。</a:t>
            </a:r>
            <a:endParaRPr 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5BD64D-E5FD-4485-8685-024500B6B380}" type="slidenum">
              <a:rPr lang="zh-CN"/>
              <a:t>2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0000000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核心蜕变：从生成器走向运行时</a:t>
            </a:r>
            <a:endParaRPr lang="zh-CN" dirty="0"/>
          </a:p>
          <a:p>
            <a:endParaRPr lang="zh-CN" dirty="0"/>
          </a:p>
          <a:p>
            <a:r>
              <a:rPr lang="zh-CN" dirty="0"/>
              <a:t>与其盯着模型排行榜上那零点几个百分点的指标提升，不如沿着 API 的演进路线，重新理解过去五年 AI 究竟发生了怎样的蜕变。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这篇文章讨论的是开发者视角下的 API 演进，而不是模型架构或训练技术的发展史。为了突出主要脉络，会适当简化部分实现细节。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主线非常清楚：模型从一个只负责生成文本的函数，逐步变成能够理解上下文、使用工具、管理状态、执行工作流的 Runtime。API 的字段越来越多，不是偶然的接口膨胀，而是软件职责正在从传统程序迁移到模型。</a:t>
            </a:r>
            <a:endParaRPr 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DFB224-6735-41C4-AE6D-16BFB946CF06}" type="slidenum">
              <a:rPr lang="zh-CN"/>
              <a:t>3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0000000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第一阶段：Completion API，AI 只是一个文本生成器</a:t>
            </a:r>
            <a:endParaRPr lang="zh-CN" dirty="0"/>
          </a:p>
          <a:p>
            <a:endParaRPr lang="zh-CN" dirty="0"/>
          </a:p>
          <a:p>
            <a:r>
              <a:rPr lang="zh-CN" dirty="0"/>
              <a:t>示例请求：</a:t>
            </a:r>
            <a:endParaRPr lang="zh-CN" dirty="0"/>
          </a:p>
          <a:p>
            <a:r>
              <a:rPr lang="zh-CN" dirty="0"/>
              <a:t>{</a:t>
            </a:r>
            <a:endParaRPr lang="zh-CN" dirty="0"/>
          </a:p>
          <a:p>
            <a:r>
              <a:rPr lang="zh-CN" dirty="0"/>
              <a:t>  "prompt": "The following is a conversation with an AI assistant...</a:t>
            </a:r>
            <a:endParaRPr lang="zh-CN" dirty="0"/>
          </a:p>
          <a:p>
            <a:r>
              <a:rPr lang="zh-CN" dirty="0"/>
              <a:t>Human: I'd like to cancel my subscription.</a:t>
            </a:r>
            <a:endParaRPr lang="zh-CN" dirty="0"/>
          </a:p>
          <a:p>
            <a:r>
              <a:rPr lang="zh-CN" dirty="0"/>
              <a:t>AI:"</a:t>
            </a:r>
            <a:endParaRPr lang="zh-CN" dirty="0"/>
          </a:p>
          <a:p>
            <a:r>
              <a:rPr lang="zh-CN" dirty="0"/>
              <a:t>}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这一代的模型，本质上只会做一件事：续写，也就是 Next Token Prediction。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因此，它的 API 签名极其纯粹：String -&gt; String。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此时的模型是没有世界观的。它不知道谁在说话，谁是系统，更不懂什么叫历史上下文。模型在训练阶段没有被显式区分角色，一切逻辑都依赖开发者用纯文本 Prompt 去硬拼凑。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于是，业界诞生了一门玄学：Prompt Engineering。今天我们在用的很多复杂 System Prompt，本质上都是那个时代硬编码留下的遗产。</a:t>
            </a:r>
            <a:endParaRPr 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8DAA52-4DF1-422E-833E-60BF27A098FA}" type="slidenum">
              <a:rPr lang="zh-CN"/>
              <a:t>4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0000000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第二阶段：Chat API，模型开始理解对话与角色</a:t>
            </a:r>
            <a:endParaRPr lang="zh-CN" dirty="0"/>
          </a:p>
          <a:p>
            <a:endParaRPr lang="zh-CN" dirty="0"/>
          </a:p>
          <a:p>
            <a:r>
              <a:rPr lang="zh-CN" dirty="0"/>
              <a:t>示例请求：</a:t>
            </a:r>
            <a:endParaRPr lang="zh-CN" dirty="0"/>
          </a:p>
          <a:p>
            <a:r>
              <a:rPr lang="zh-CN" dirty="0"/>
              <a:t>{</a:t>
            </a:r>
            <a:endParaRPr lang="zh-CN" dirty="0"/>
          </a:p>
          <a:p>
            <a:r>
              <a:rPr lang="zh-CN" dirty="0"/>
              <a:t>  "messages": [</a:t>
            </a:r>
            <a:endParaRPr lang="zh-CN" dirty="0"/>
          </a:p>
          <a:p>
            <a:r>
              <a:rPr lang="zh-CN" dirty="0"/>
              <a:t>    {"role": "system", "content": "You are a helpful assistant."},</a:t>
            </a:r>
            <a:endParaRPr lang="zh-CN" dirty="0"/>
          </a:p>
          <a:p>
            <a:r>
              <a:rPr lang="zh-CN" dirty="0"/>
              <a:t>    {"role": "user", "content": "Hello!"}</a:t>
            </a:r>
            <a:endParaRPr lang="zh-CN" dirty="0"/>
          </a:p>
          <a:p>
            <a:r>
              <a:rPr lang="zh-CN" dirty="0"/>
              <a:t>  ]</a:t>
            </a:r>
            <a:endParaRPr lang="zh-CN" dirty="0"/>
          </a:p>
          <a:p>
            <a:r>
              <a:rPr lang="zh-CN" dirty="0"/>
              <a:t>}</a:t>
            </a:r>
            <a:endParaRPr lang="zh-CN" dirty="0"/>
          </a:p>
          <a:p>
            <a:endParaRPr lang="zh-CN" dirty="0"/>
          </a:p>
          <a:p>
            <a:r>
              <a:rPr lang="zh-CN" dirty="0"/>
              <a:t>Completion API 最大的问题，并不是模型不会聊天，而是所有上下文都只能编码在一个字符串里。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Chat API 的价值，不是把 prompt 改成了 messages，而是把原本隐含在 Prompt 中的语义，也就是系统指令、用户输入、历史对话，显式建模为带类型标签的数据结构。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对开发者而言，Prompt 从一段自由文本变成了一个具有 Schema 的消息序列；对模型而言，训练和推理阶段都可以利用这些结构化标签。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这里也要区分三个层次：模型架构、模型训练方式、API 协议设计。很多 API 的变化，并不是 Transformer 本身的变化，而是训练方式和工程接口共同演进的结果。</a:t>
            </a:r>
            <a:endParaRPr 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0990E8-519B-4D2C-B2CC-6DACD381F39D}" type="slidenum">
              <a:rPr lang="zh-CN"/>
              <a:t>5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0000000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第三阶段：Tool Calling，模型第一次拥有行动能力</a:t>
            </a:r>
            <a:endParaRPr lang="zh-CN" dirty="0"/>
          </a:p>
          <a:p>
            <a:endParaRPr lang="zh-CN" dirty="0"/>
          </a:p>
          <a:p>
            <a:r>
              <a:rPr lang="zh-CN" dirty="0"/>
              <a:t>示例请求里开始出现 tools：</a:t>
            </a:r>
            <a:endParaRPr lang="zh-CN" dirty="0"/>
          </a:p>
          <a:p>
            <a:r>
              <a:rPr lang="zh-CN" dirty="0"/>
              <a:t>{</a:t>
            </a:r>
            <a:endParaRPr lang="zh-CN" dirty="0"/>
          </a:p>
          <a:p>
            <a:r>
              <a:rPr lang="zh-CN" dirty="0"/>
              <a:t>  "messages": [{"role": "user", "content": "What's the weather like in Boston?"}],</a:t>
            </a:r>
            <a:endParaRPr lang="zh-CN" dirty="0"/>
          </a:p>
          <a:p>
            <a:r>
              <a:rPr lang="zh-CN" dirty="0"/>
              <a:t>  "tools": [{"type": "function", "function": {"name": "get_current_weather"}}],</a:t>
            </a:r>
            <a:endParaRPr lang="zh-CN" dirty="0"/>
          </a:p>
          <a:p>
            <a:r>
              <a:rPr lang="zh-CN" dirty="0"/>
              <a:t>  "tool_choice": "auto"</a:t>
            </a:r>
            <a:endParaRPr lang="zh-CN" dirty="0"/>
          </a:p>
          <a:p>
            <a:r>
              <a:rPr lang="zh-CN" dirty="0"/>
              <a:t>}</a:t>
            </a:r>
            <a:endParaRPr lang="zh-CN" dirty="0"/>
          </a:p>
          <a:p>
            <a:endParaRPr lang="zh-CN" dirty="0"/>
          </a:p>
          <a:p>
            <a:r>
              <a:rPr lang="zh-CN" dirty="0"/>
              <a:t>返回中也会出现 tool_calls，例如模型请求调用 get_current_weather，并给出 arguments。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Tool Calling 最大的变化，并不是模型可以调用天气 API。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真正关键的是，API 第一次允许模型把回答和行动分离。在 Completion API 中，模型唯一的输出是文本；而在 Tool Calling 中，模型可以输出一种新的中间结果：请替我执行这个动作。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从软件系统的角度来看，这意味着模型开始参与 Control Flow，而不仅仅是 Data Generation。智能从单纯的回答者，走向了动态的执行者。</a:t>
            </a:r>
            <a:endParaRPr 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DA6BD9-E242-47FD-AA90-E0FC941528A0}" type="slidenum">
              <a:rPr lang="zh-CN"/>
              <a:t>6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0000000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第四阶段：Multimodal，统一世界模型</a:t>
            </a:r>
            <a:endParaRPr lang="zh-CN" dirty="0"/>
          </a:p>
          <a:p>
            <a:endParaRPr lang="zh-CN" dirty="0"/>
          </a:p>
          <a:p>
            <a:r>
              <a:rPr lang="zh-CN" dirty="0"/>
              <a:t>示例请求里，messages 的 content 不再只是字符串，而是数组：</a:t>
            </a:r>
            <a:endParaRPr lang="zh-CN" dirty="0"/>
          </a:p>
          <a:p>
            <a:r>
              <a:rPr lang="zh-CN" dirty="0"/>
              <a:t>[</a:t>
            </a:r>
            <a:endParaRPr lang="zh-CN" dirty="0"/>
          </a:p>
          <a:p>
            <a:r>
              <a:rPr lang="zh-CN" dirty="0"/>
              <a:t>  {"type": "text", "text": "What's in this image?"},</a:t>
            </a:r>
            <a:endParaRPr lang="zh-CN" dirty="0"/>
          </a:p>
          <a:p>
            <a:r>
              <a:rPr lang="zh-CN" dirty="0"/>
              <a:t>  {"type": "image_url", "image_url": {"url": "https://..."}}</a:t>
            </a:r>
            <a:endParaRPr lang="zh-CN" dirty="0"/>
          </a:p>
          <a:p>
            <a:r>
              <a:rPr lang="zh-CN" dirty="0"/>
              <a:t>]</a:t>
            </a:r>
            <a:endParaRPr lang="zh-CN" dirty="0"/>
          </a:p>
          <a:p>
            <a:endParaRPr lang="zh-CN" dirty="0"/>
          </a:p>
          <a:p>
            <a:r>
              <a:rPr lang="zh-CN" dirty="0"/>
              <a:t>以前的输入是单纯的 Text，后来变成了 Content[] 数组，可以包含 Text、Image、Audio、Video、PDF。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为什么 API 会这样演进？因为在最前沿的模型眼中，图片、声音已经不再是需要 OCR 或 ASR 预处理的特殊输入，它们与文字一样，都只是 Token。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API 中 modalities 的增加，本质上映射的是：模型开始拥有统一的信息表示能力 Unified Representation。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这是多模态真正的关键之处：它不是在支持图片，而是在底层统一世界。</a:t>
            </a:r>
            <a:endParaRPr 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06F863-FC1D-4AA0-919B-BACB7C325F1F}" type="slidenum">
              <a:rPr lang="zh-CN"/>
              <a:t>7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0000000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第五阶段：Agent Runtime，API 开始描述执行过程与环境</a:t>
            </a:r>
            <a:endParaRPr lang="zh-CN" dirty="0"/>
          </a:p>
          <a:p>
            <a:endParaRPr lang="zh-CN" dirty="0"/>
          </a:p>
          <a:p>
            <a:r>
              <a:rPr lang="zh-CN" dirty="0"/>
              <a:t>示例响应：</a:t>
            </a:r>
            <a:endParaRPr lang="zh-CN" dirty="0"/>
          </a:p>
          <a:p>
            <a:r>
              <a:rPr lang="zh-CN" dirty="0"/>
              <a:t>{</a:t>
            </a:r>
            <a:endParaRPr lang="zh-CN" dirty="0"/>
          </a:p>
          <a:p>
            <a:r>
              <a:rPr lang="zh-CN" dirty="0"/>
              <a:t>  "output": [</a:t>
            </a:r>
            <a:endParaRPr lang="zh-CN" dirty="0"/>
          </a:p>
          <a:p>
            <a:r>
              <a:rPr lang="zh-CN" dirty="0"/>
              <a:t>    {"type": "message", "role": "assistant", "content": "Let me search the web for that."},</a:t>
            </a:r>
            <a:endParaRPr lang="zh-CN" dirty="0"/>
          </a:p>
          <a:p>
            <a:r>
              <a:rPr lang="zh-CN" dirty="0"/>
              <a:t>    {"type": "tool_call", "name": "web_search", "arguments": "{...}"}</a:t>
            </a:r>
            <a:endParaRPr lang="zh-CN" dirty="0"/>
          </a:p>
          <a:p>
            <a:r>
              <a:rPr lang="zh-CN" dirty="0"/>
              <a:t>  ]</a:t>
            </a:r>
            <a:endParaRPr lang="zh-CN" dirty="0"/>
          </a:p>
          <a:p>
            <a:r>
              <a:rPr lang="zh-CN" dirty="0"/>
              <a:t>}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这是当下正在发生的、最大的软件范式变革。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回顾前几个阶段，API 无论怎么变，返回的终究是一个结果 Answer。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但今天，比如 OpenAI 的 Responses API 或最新的实时流式 API，它们返回的是 Tool Call、Reasoning、Events、State、Output。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API 不再只返回结果，而是开始输出整个 Workflow。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为什么很多开发者觉得现在的 Agent SDK 越来越庞大难懂？其实不是 SDK 复杂了，而是模型承担的软件职责越来越多了。模型越来越不像一个函数，而越来越像一个 Runtime。</a:t>
            </a:r>
            <a:endParaRPr 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17D47-3811-436B-B38C-C5A79D35D6A7}" type="slidenum">
              <a:rPr lang="zh-CN"/>
              <a:t>8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0000000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标准化运行时环境：MCP 的崛起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这就不得不提到当下快速兴起的 MCP，也就是 Model Context Protocol。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随着模型越来越依赖外部工具，行业开始探索统一的工具协议。MCP 是目前影响力最大的尝试之一，但它并不是唯一方案，也未必会是最终方案。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当模型成为运行时，它不仅需要工具，还需要一个标准协议来挂载和感知本地环境：文件、数据库、终端、远程服务。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API 不得不去描述整个执行过程和上下文状态，因为模型正在接管原属于代码的控制流。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这一页可以强调：MCP 的意义不是多一个插件标准，而是 AI Runtime 需要一个连接真实软件世界的环境协议。</a:t>
            </a:r>
            <a:endParaRPr 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9CEF2B-587A-447F-8A1A-505E9660DFAD}" type="slidenum">
              <a:rPr lang="zh-CN"/>
              <a:t>9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0000000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隐藏的轨迹：不断吞噬传统代码的五年</a:t>
            </a:r>
            <a:endParaRPr lang="zh-CN" dirty="0"/>
          </a:p>
          <a:p>
            <a:endParaRPr lang="zh-CN" dirty="0"/>
          </a:p>
          <a:p>
            <a:r>
              <a:rPr lang="zh-CN" dirty="0"/>
              <a:t>如果把这五年的演进画一条线，会看到一个清晰轨迹：</a:t>
            </a:r>
            <a:endParaRPr lang="zh-CN" dirty="0"/>
          </a:p>
          <a:p>
            <a:endParaRPr lang="zh-CN" dirty="0"/>
          </a:p>
          <a:p>
            <a:r>
              <a:rPr lang="zh-CN" dirty="0"/>
              <a:t>2020：Completion API</a:t>
            </a:r>
            <a:endParaRPr lang="zh-CN" dirty="0"/>
          </a:p>
          <a:p>
            <a:r>
              <a:rPr lang="zh-CN" dirty="0"/>
              <a:t>2023.03：Chat Completions</a:t>
            </a:r>
            <a:endParaRPr lang="zh-CN" dirty="0"/>
          </a:p>
          <a:p>
            <a:r>
              <a:rPr lang="zh-CN" dirty="0"/>
              <a:t>2023.06：Function Calling</a:t>
            </a:r>
            <a:endParaRPr lang="zh-CN" dirty="0"/>
          </a:p>
          <a:p>
            <a:r>
              <a:rPr lang="zh-CN" dirty="0"/>
              <a:t>2023.09：多模态统一输入 Content 逐渐成熟</a:t>
            </a:r>
            <a:endParaRPr lang="zh-CN" dirty="0"/>
          </a:p>
          <a:p>
            <a:r>
              <a:rPr lang="zh-CN" dirty="0"/>
              <a:t>2025 以后：Responses API、Agent Runtime、Computer Use 等能力逐渐收敛</a:t>
            </a:r>
            <a:endParaRPr lang="zh-CN" dirty="0"/>
          </a:p>
          <a:p>
            <a:endParaRPr lang="zh-CN" dirty="0"/>
          </a:p>
          <a:p>
            <a:r>
              <a:rPr lang="zh-CN" dirty="0"/>
              <a:t>API 每升级一次，模型就向真正的程序迈进一步。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以前：程序负责控制流程，模型只负责生成文本。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今天：模型负责控制流程，程序退化为只负责执行具体的原子动作。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过去五年，API 其实一直在暗中做一件事：不断把原来属于程序的职责，无缝迁移到模型中。</a:t>
            </a:r>
            <a:endParaRPr 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88BE30-02AB-4BA2-908B-928B7BC81C34}" type="slidenum">
              <a:rPr lang="zh-CN"/>
              <a:t>10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0000000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软件工程大迁徙：职责的全面转移</a:t>
            </a:r>
            <a:endParaRPr lang="zh-CN" dirty="0"/>
          </a:p>
          <a:p>
            <a:endParaRPr lang="zh-CN" dirty="0"/>
          </a:p>
          <a:p>
            <a:r>
              <a:rPr lang="zh-CN" dirty="0"/>
              <a:t>可以把传统程序职责和今天的大模型职责做一个对照：</a:t>
            </a:r>
            <a:endParaRPr lang="zh-CN" dirty="0"/>
          </a:p>
          <a:p>
            <a:endParaRPr lang="zh-CN" dirty="0"/>
          </a:p>
          <a:p>
            <a:r>
              <a:rPr lang="zh-CN" dirty="0"/>
              <a:t>Prompt 纯文本拼接 -&gt; Context 窗口与状态管理</a:t>
            </a:r>
            <a:endParaRPr lang="zh-CN" dirty="0"/>
          </a:p>
          <a:p>
            <a:r>
              <a:rPr lang="zh-CN" dirty="0"/>
              <a:t>历史记录状态维护 -&gt; Conversation / Message Sequence</a:t>
            </a:r>
            <a:endParaRPr lang="zh-CN" dirty="0"/>
          </a:p>
          <a:p>
            <a:r>
              <a:rPr lang="zh-CN" dirty="0"/>
              <a:t>业务分支 If-Else 判断 -&gt; Tool Choice 动态路由</a:t>
            </a:r>
            <a:endParaRPr lang="zh-CN" dirty="0"/>
          </a:p>
          <a:p>
            <a:r>
              <a:rPr lang="zh-CN" dirty="0"/>
              <a:t>RPC 接口调用封装 -&gt; Function Calling 原生支持</a:t>
            </a:r>
            <a:endParaRPr lang="zh-CN" dirty="0"/>
          </a:p>
          <a:p>
            <a:r>
              <a:rPr lang="zh-CN" dirty="0"/>
              <a:t>复杂工作流编排 -&gt; Agent Planning / Reasoning</a:t>
            </a:r>
            <a:endParaRPr lang="zh-CN" dirty="0"/>
          </a:p>
          <a:p>
            <a:r>
              <a:rPr lang="zh-CN" dirty="0"/>
              <a:t>正则提取与 JSON 转换 -&gt; Structured Output 结构化输出</a:t>
            </a:r>
            <a:endParaRPr lang="zh-CN" dirty="0"/>
          </a:p>
          <a:p>
            <a:r>
              <a:rPr lang="zh-CN" dirty="0"/>
              <a:t>独立的多媒体解析模块 -&gt; Multimodal Understanding 统一模态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这就是过去几年 AI API 演进真正的主线。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这些变化不是单纯的字段增加，而是软件系统的职责边界在重新划分。</a:t>
            </a:r>
            <a:endParaRPr 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2E5B02-6A68-4CE3-953E-2B0E7B954532}" type="slidenum">
              <a:rPr lang="zh-CN"/>
              <a:t>11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0000000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Vibe Coding 的现实意义：开发者的解放</a:t>
            </a:r>
            <a:endParaRPr lang="zh-CN" dirty="0"/>
          </a:p>
          <a:p>
            <a:endParaRPr lang="zh-CN" dirty="0"/>
          </a:p>
          <a:p>
            <a:r>
              <a:rPr lang="zh-CN" dirty="0"/>
              <a:t>由于模型接管了繁琐的逻辑控制流，开发者才得以从无穷尽的 If-else 中解脱出来，专注于定义目标 Goal 和提供上下文 Context。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剩下的事情，交由模型这个 Runtime 自动执行。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这也是为什么现在的开发方式越来越像在和一个执行环境协作，而不是在调用一个文本函数。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开发者的核心工作会从写死每一个分支，转向描述目标、约束、可用能力、上下文和验收标准。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所谓 Vibe Coding，不只是更自然地表达需求，而是把工程控制权的一部分交给具备执行能力的模型运行时。</a:t>
            </a:r>
            <a:endParaRPr 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4CD00A-FFE4-46A2-883D-194903C3D6C5}" type="slidenum">
              <a:rPr lang="zh-CN"/>
              <a:t>12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0000000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预测下一步：从命令式走向声明式</a:t>
            </a:r>
            <a:endParaRPr lang="zh-CN" dirty="0"/>
          </a:p>
          <a:p>
            <a:endParaRPr lang="zh-CN" dirty="0"/>
          </a:p>
          <a:p>
            <a:r>
              <a:rPr lang="zh-CN" dirty="0"/>
              <a:t>因为 API 的设计永远滞后于模型能力的突破一点点，所以通过现在的瓶颈，我们大概能猜到 API 的下一步。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我认为未来三年，最核心的变化将是从 Imperative 命令式，走向 Declarative 声明式。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API 的核心负载将不再是微观的 messages，而会变成宏观的声明：</a:t>
            </a:r>
            <a:endParaRPr lang="zh-CN" dirty="0"/>
          </a:p>
          <a:p>
            <a:endParaRPr lang="zh-CN" dirty="0"/>
          </a:p>
          <a:p>
            <a:r>
              <a:rPr lang="zh-CN" dirty="0"/>
              <a:t>Task: "帮我重构这段遗留代码"</a:t>
            </a:r>
            <a:endParaRPr lang="zh-CN" dirty="0"/>
          </a:p>
          <a:p>
            <a:r>
              <a:rPr lang="zh-CN" dirty="0"/>
              <a:t>Goal: "提升性能并补充单元测试"</a:t>
            </a:r>
            <a:endParaRPr lang="zh-CN" dirty="0"/>
          </a:p>
          <a:p>
            <a:r>
              <a:rPr lang="zh-CN" dirty="0"/>
              <a:t>Capability: [Code_Execution, Web_Search]</a:t>
            </a:r>
            <a:endParaRPr lang="zh-CN" dirty="0"/>
          </a:p>
          <a:p>
            <a:r>
              <a:rPr lang="zh-CN" dirty="0"/>
              <a:t>Memory: [Project_History]</a:t>
            </a:r>
            <a:endParaRPr lang="zh-CN" dirty="0"/>
          </a:p>
          <a:p>
            <a:r>
              <a:rPr lang="zh-CN" dirty="0"/>
              <a:t>Environment: [Local_Workspace]</a:t>
            </a:r>
            <a:endParaRPr lang="zh-CN" dirty="0"/>
          </a:p>
          <a:p>
            <a:endParaRPr lang="zh-CN" dirty="0"/>
          </a:p>
          <a:p>
            <a:r>
              <a:rPr lang="zh-CN" dirty="0"/>
              <a:t>也就是说，开发者不再一轮一轮地把所有上下文塞进聊天记录，而是把任务、目标、能力和环境声明清楚。</a:t>
            </a:r>
            <a:endParaRPr 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B3C167-99F7-4B9A-8F10-41D0229B2FA8}" type="slidenum">
              <a:rPr lang="zh-CN"/>
              <a:t>13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0000000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未来 API 的最终签名</a:t>
            </a:r>
            <a:endParaRPr lang="zh-CN" dirty="0"/>
          </a:p>
          <a:p>
            <a:endParaRPr lang="zh-CN" dirty="0"/>
          </a:p>
          <a:p>
            <a:r>
              <a:rPr lang="zh-CN" dirty="0"/>
              <a:t>未来我们调用的入口，可能不再是带着对话历史的 chat()，而是一个更具宏观执行力的 execute(task)。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过去的调用像这样：</a:t>
            </a:r>
            <a:endParaRPr lang="zh-CN" dirty="0"/>
          </a:p>
          <a:p>
            <a:r>
              <a:rPr lang="zh-CN" dirty="0"/>
              <a:t>response = ai.chat(messages=[{role: user, content: ...}])</a:t>
            </a:r>
            <a:endParaRPr lang="zh-CN" dirty="0"/>
          </a:p>
          <a:p>
            <a:endParaRPr lang="zh-CN" dirty="0"/>
          </a:p>
          <a:p>
            <a:r>
              <a:rPr lang="zh-CN" dirty="0"/>
              <a:t>未来的调用更像这样：</a:t>
            </a:r>
            <a:endParaRPr lang="zh-CN" dirty="0"/>
          </a:p>
          <a:p>
            <a:r>
              <a:rPr lang="zh-CN" dirty="0"/>
              <a:t>result = ai.execute(task=build_app_from_repo, context=workspace)</a:t>
            </a:r>
            <a:endParaRPr lang="zh-CN" dirty="0"/>
          </a:p>
          <a:p>
            <a:endParaRPr lang="zh-CN" dirty="0"/>
          </a:p>
          <a:p>
            <a:r>
              <a:rPr lang="zh-CN" dirty="0"/>
              <a:t>因为，大模型的职责，已经从回答问题，转向完成任务。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这里可以把 API 的演进收束成一句话：它不再只是消息接口，而是在逐步变成任务执行接口。</a:t>
            </a:r>
            <a:endParaRPr 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71E7AA-1B0E-45F6-B37E-C0DE04A61601}" type="slidenum">
              <a:rPr lang="zh-CN"/>
              <a:t>14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0000000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拥抱 Runtime 时代</a:t>
            </a:r>
            <a:endParaRPr lang="zh-CN" dirty="0"/>
          </a:p>
          <a:p>
            <a:endParaRPr lang="zh-CN" dirty="0"/>
          </a:p>
          <a:p>
            <a:r>
              <a:rPr lang="zh-CN" dirty="0"/>
              <a:t>可以用这句话收尾：API 只是镜子，真正进化的是你构建软件的想象力。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从 Completion 到 Chat，从 Tool Calling 到 Multimodal，再到 Agent Runtime，AI API 的演进不是接口越来越复杂，而是模型越来越接近一个可以参与控制流、理解环境、执行任务的软件运行时。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所以，我们看 API，不只是为了知道怎么调接口，而是为了理解 AI 正在接管哪些软件职责。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当 API 开始描述工具、环境、状态、事件和执行过程时，它照出来的已经不是一个文本生成器，而是一个正在形成的新 Runtime。</a:t>
            </a:r>
            <a:endParaRPr 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AF573B-AE93-4D4D-B7EC-1F56D03DB435}" type="slidenum">
              <a:rPr lang="zh-CN"/>
              <a:t>15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000000015"/>
      </p:ext>
    </p:extLst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arget="../slideLayouts/slideLayout7.xml" Type="http://schemas.openxmlformats.org/officeDocument/2006/relationships/slideLayout" /><ns0:Relationship Id="rId2" Target="../media/image1.png" Type="http://schemas.openxmlformats.org/officeDocument/2006/relationships/image" /><ns0:Relationship Id="rId3" Target="../notesSlides/notesSlide1.xml" Type="http://schemas.openxmlformats.org/officeDocument/2006/relationships/notesSlide" /></ns0:Relationships>
</file>

<file path=ppt/slides/_rels/slide2.xml.rels><?xml version='1.0' encoding='utf-8'?>
<ns0:Relationships xmlns:ns0="http://schemas.openxmlformats.org/package/2006/relationships"><ns0:Relationship Id="rId1" Target="../slideLayouts/slideLayout7.xml" Type="http://schemas.openxmlformats.org/officeDocument/2006/relationships/slideLayout" /><ns0:Relationship Id="rId2" Target="../media/image2.png" Type="http://schemas.openxmlformats.org/officeDocument/2006/relationships/image" /><ns0:Relationship Id="rId3" Target="../notesSlides/notesSlide2.xml" Type="http://schemas.openxmlformats.org/officeDocument/2006/relationships/notesSlide" /></ns0:Relationships>
</file>

<file path=ppt/slides/_rels/slide3.xml.rels><?xml version='1.0' encoding='utf-8'?>
<ns0:Relationships xmlns:ns0="http://schemas.openxmlformats.org/package/2006/relationships"><ns0:Relationship Id="rId1" Target="../slideLayouts/slideLayout7.xml" Type="http://schemas.openxmlformats.org/officeDocument/2006/relationships/slideLayout" /><ns0:Relationship Id="rId2" Target="../media/image3.png" Type="http://schemas.openxmlformats.org/officeDocument/2006/relationships/image" /><ns0:Relationship Id="rId3" Target="../notesSlides/notesSlide3.xml" Type="http://schemas.openxmlformats.org/officeDocument/2006/relationships/notesSlide" /></ns0:Relationships>
</file>

<file path=ppt/slides/_rels/slide4.xml.rels><?xml version='1.0' encoding='utf-8'?>
<ns0:Relationships xmlns:ns0="http://schemas.openxmlformats.org/package/2006/relationships"><ns0:Relationship Id="rId1" Target="../slideLayouts/slideLayout7.xml" Type="http://schemas.openxmlformats.org/officeDocument/2006/relationships/slideLayout" /><ns0:Relationship Id="rId2" Target="../media/image4.png" Type="http://schemas.openxmlformats.org/officeDocument/2006/relationships/image" /><ns0:Relationship Id="rId3" Target="../notesSlides/notesSlide4.xml" Type="http://schemas.openxmlformats.org/officeDocument/2006/relationships/notesSlide" /></ns0:Relationships>
</file>

<file path=ppt/slides/_rels/slide5.xml.rels><?xml version='1.0' encoding='utf-8'?>
<ns0:Relationships xmlns:ns0="http://schemas.openxmlformats.org/package/2006/relationships"><ns0:Relationship Id="rId1" Target="../slideLayouts/slideLayout7.xml" Type="http://schemas.openxmlformats.org/officeDocument/2006/relationships/slideLayout" /><ns0:Relationship Id="rId2" Target="../media/image5.png" Type="http://schemas.openxmlformats.org/officeDocument/2006/relationships/image" /><ns0:Relationship Id="rId3" Target="../notesSlides/notesSlide5.xml" Type="http://schemas.openxmlformats.org/officeDocument/2006/relationships/notesSlide" /></ns0:Relationships>
</file>

<file path=ppt/slides/_rels/slide6.xml.rels><?xml version='1.0' encoding='utf-8'?>
<ns0:Relationships xmlns:ns0="http://schemas.openxmlformats.org/package/2006/relationships"><ns0:Relationship Id="rId1" Target="../slideLayouts/slideLayout7.xml" Type="http://schemas.openxmlformats.org/officeDocument/2006/relationships/slideLayout" /><ns0:Relationship Id="rId2" Target="../media/image6.png" Type="http://schemas.openxmlformats.org/officeDocument/2006/relationships/image" /><ns0:Relationship Id="rId3" Target="../notesSlides/notesSlide6.xml" Type="http://schemas.openxmlformats.org/officeDocument/2006/relationships/notesSlide" /></ns0:Relationships>
</file>

<file path=ppt/slides/_rels/slide7.xml.rels><?xml version='1.0' encoding='utf-8'?>
<ns0:Relationships xmlns:ns0="http://schemas.openxmlformats.org/package/2006/relationships"><ns0:Relationship Id="rId1" Target="../slideLayouts/slideLayout7.xml" Type="http://schemas.openxmlformats.org/officeDocument/2006/relationships/slideLayout" /><ns0:Relationship Id="rId2" Target="../media/image7.png" Type="http://schemas.openxmlformats.org/officeDocument/2006/relationships/image" /><ns0:Relationship Id="rId3" Target="../notesSlides/notesSlide7.xml" Type="http://schemas.openxmlformats.org/officeDocument/2006/relationships/notesSlide" /></ns0:Relationships>
</file>

<file path=ppt/slides/_rels/slide8.xml.rels><?xml version='1.0' encoding='utf-8'?>
<ns0:Relationships xmlns:ns0="http://schemas.openxmlformats.org/package/2006/relationships"><ns0:Relationship Id="rId1" Target="../slideLayouts/slideLayout7.xml" Type="http://schemas.openxmlformats.org/officeDocument/2006/relationships/slideLayout" /><ns0:Relationship Id="rId2" Target="../media/image8.png" Type="http://schemas.openxmlformats.org/officeDocument/2006/relationships/image" /><ns0:Relationship Id="rId3" Target="../notesSlides/notesSlide8.xml" Type="http://schemas.openxmlformats.org/officeDocument/2006/relationships/notesSlide" /></ns0:Relationships>
</file>

<file path=ppt/slides/_rels/slide9.xml.rels><?xml version='1.0' encoding='utf-8'?>
<ns0:Relationships xmlns:ns0="http://schemas.openxmlformats.org/package/2006/relationships"><ns0:Relationship Id="rId1" Target="../slideLayouts/slideLayout7.xml" Type="http://schemas.openxmlformats.org/officeDocument/2006/relationships/slideLayout" /><ns0:Relationship Id="rId2" Target="../media/image9.png" Type="http://schemas.openxmlformats.org/officeDocument/2006/relationships/image" /><ns0:Relationship Id="rId3" Target="../notesSlides/notesSlide9.xml" Type="http://schemas.openxmlformats.org/officeDocument/2006/relationships/notesSlide" /></ns0:Relationships>
</file>

<file path=ppt/slides/_rels/slide10.xml.rels><?xml version='1.0' encoding='utf-8'?>
<ns0:Relationships xmlns:ns0="http://schemas.openxmlformats.org/package/2006/relationships"><ns0:Relationship Id="rId1" Target="../slideLayouts/slideLayout7.xml" Type="http://schemas.openxmlformats.org/officeDocument/2006/relationships/slideLayout" /><ns0:Relationship Id="rId2" Target="../media/image10.png" Type="http://schemas.openxmlformats.org/officeDocument/2006/relationships/image" /><ns0:Relationship Id="rId3" Target="../notesSlides/notesSlide10.xml" Type="http://schemas.openxmlformats.org/officeDocument/2006/relationships/notesSlide" /></ns0:Relationships>
</file>

<file path=ppt/slides/_rels/slide11.xml.rels><?xml version='1.0' encoding='utf-8'?>
<ns0:Relationships xmlns:ns0="http://schemas.openxmlformats.org/package/2006/relationships"><ns0:Relationship Id="rId1" Target="../slideLayouts/slideLayout7.xml" Type="http://schemas.openxmlformats.org/officeDocument/2006/relationships/slideLayout" /><ns0:Relationship Id="rId2" Target="../media/image11.png" Type="http://schemas.openxmlformats.org/officeDocument/2006/relationships/image" /><ns0:Relationship Id="rId3" Target="../notesSlides/notesSlide11.xml" Type="http://schemas.openxmlformats.org/officeDocument/2006/relationships/notesSlide" /></ns0:Relationships>
</file>

<file path=ppt/slides/_rels/slide12.xml.rels><?xml version='1.0' encoding='utf-8'?>
<ns0:Relationships xmlns:ns0="http://schemas.openxmlformats.org/package/2006/relationships"><ns0:Relationship Id="rId1" Target="../slideLayouts/slideLayout7.xml" Type="http://schemas.openxmlformats.org/officeDocument/2006/relationships/slideLayout" /><ns0:Relationship Id="rId2" Target="../media/image12.png" Type="http://schemas.openxmlformats.org/officeDocument/2006/relationships/image" /><ns0:Relationship Id="rId3" Target="../notesSlides/notesSlide12.xml" Type="http://schemas.openxmlformats.org/officeDocument/2006/relationships/notesSlide" /></ns0:Relationships>
</file>

<file path=ppt/slides/_rels/slide13.xml.rels><?xml version='1.0' encoding='utf-8'?>
<ns0:Relationships xmlns:ns0="http://schemas.openxmlformats.org/package/2006/relationships"><ns0:Relationship Id="rId1" Target="../slideLayouts/slideLayout7.xml" Type="http://schemas.openxmlformats.org/officeDocument/2006/relationships/slideLayout" /><ns0:Relationship Id="rId2" Target="../media/image13.png" Type="http://schemas.openxmlformats.org/officeDocument/2006/relationships/image" /><ns0:Relationship Id="rId3" Target="../notesSlides/notesSlide13.xml" Type="http://schemas.openxmlformats.org/officeDocument/2006/relationships/notesSlide" /></ns0:Relationships>
</file>

<file path=ppt/slides/_rels/slide14.xml.rels><?xml version='1.0' encoding='utf-8'?>
<ns0:Relationships xmlns:ns0="http://schemas.openxmlformats.org/package/2006/relationships"><ns0:Relationship Id="rId1" Target="../slideLayouts/slideLayout7.xml" Type="http://schemas.openxmlformats.org/officeDocument/2006/relationships/slideLayout" /><ns0:Relationship Id="rId2" Target="../media/image14.png" Type="http://schemas.openxmlformats.org/officeDocument/2006/relationships/image" /><ns0:Relationship Id="rId3" Target="../notesSlides/notesSlide14.xml" Type="http://schemas.openxmlformats.org/officeDocument/2006/relationships/notesSlide" /></ns0:Relationships>
</file>

<file path=ppt/slides/_rels/slide15.xml.rels><?xml version='1.0' encoding='utf-8'?>
<ns0:Relationships xmlns:ns0="http://schemas.openxmlformats.org/package/2006/relationships"><ns0:Relationship Id="rId1" Target="../slideLayouts/slideLayout7.xml" Type="http://schemas.openxmlformats.org/officeDocument/2006/relationships/slideLayout" /><ns0:Relationship Id="rId2" Target="../media/image15.png" Type="http://schemas.openxmlformats.org/officeDocument/2006/relationships/image" /><ns0:Relationship Id="rId3" Target="../notesSlides/notesSlide15.xml" Type="http://schemas.openxmlformats.org/officeDocument/2006/relationships/notesSlide" /></ns0: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0</ns0:Words>
  <ns0:Application>Microsoft Office PowerPoint</ns0:Application>
  <ns0:PresentationFormat>On-screen Show (4:3)</ns0:PresentationFormat>
  <ns0:Paragraphs>0</ns0:Paragraphs>
  <ns0:Slides>15</ns0:Slides>
  <ns0:Notes>15</ns0:Notes>
  <ns0:HiddenSlides>0</ns0:HiddenSlides>
  <ns0:MMClips>0</ns0:MMClips>
  <ns0:ScaleCrop>false</ns0:ScaleCrop>
  <ns0:HeadingPairs>
    <ns1:vector baseType="variant" size="4">
      <ns1:variant>
        <ns1:lpstr>Theme</ns1:lpstr>
      </ns1:variant>
      <ns1:variant>
        <ns1:i4>1</ns1:i4>
      </ns1:variant>
      <ns1:variant>
        <ns1:lpstr>Slide Titles</ns1:lpstr>
      </ns1:variant>
      <ns1:variant>
        <ns1:i4>0</ns1:i4>
      </ns1:variant>
    </ns1:vector>
  </ns0:HeadingPairs>
  <ns0:TitlesOfParts>
    <ns1:vector baseType="lpstr" size="1">
      <ns1:lpstr>Office Theme</ns1:lpstr>
    </ns1:vector>
  </ns0:TitlesOfParts>
  <ns0:Company/>
  <ns0:LinksUpToDate>false</ns0:LinksUpToDate>
  <ns0:SharedDoc>false</ns0:SharedDoc>
  <ns0:HyperlinksChanged>false</ns0:HyperlinksChanged>
  <ns0:AppVersion>14.0000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